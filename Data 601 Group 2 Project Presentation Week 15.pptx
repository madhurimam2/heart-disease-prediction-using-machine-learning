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5" r:id="rId1"/>
  </p:sldMasterIdLst>
  <p:notesMasterIdLst>
    <p:notesMasterId r:id="rId27"/>
  </p:notesMasterIdLst>
  <p:sldIdLst>
    <p:sldId id="256" r:id="rId2"/>
    <p:sldId id="257" r:id="rId3"/>
    <p:sldId id="258" r:id="rId4"/>
    <p:sldId id="260" r:id="rId5"/>
    <p:sldId id="266" r:id="rId6"/>
    <p:sldId id="265" r:id="rId7"/>
    <p:sldId id="263" r:id="rId8"/>
    <p:sldId id="264" r:id="rId9"/>
    <p:sldId id="272" r:id="rId10"/>
    <p:sldId id="267" r:id="rId11"/>
    <p:sldId id="268" r:id="rId12"/>
    <p:sldId id="269" r:id="rId13"/>
    <p:sldId id="270" r:id="rId14"/>
    <p:sldId id="271" r:id="rId15"/>
    <p:sldId id="278" r:id="rId16"/>
    <p:sldId id="273" r:id="rId17"/>
    <p:sldId id="274" r:id="rId18"/>
    <p:sldId id="275" r:id="rId19"/>
    <p:sldId id="276" r:id="rId20"/>
    <p:sldId id="277" r:id="rId21"/>
    <p:sldId id="283" r:id="rId22"/>
    <p:sldId id="285" r:id="rId23"/>
    <p:sldId id="284" r:id="rId24"/>
    <p:sldId id="282" r:id="rId25"/>
    <p:sldId id="262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30"/>
    <p:restoredTop sz="94668"/>
  </p:normalViewPr>
  <p:slideViewPr>
    <p:cSldViewPr snapToGrid="0" snapToObjects="1">
      <p:cViewPr varScale="1">
        <p:scale>
          <a:sx n="59" d="100"/>
          <a:sy n="59" d="100"/>
        </p:scale>
        <p:origin x="1348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BCE248-DC9A-4524-9FF9-C81A98326DEF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32D101-C4A6-405E-950E-CB1E5E56F3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6620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ae6a868c2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ae6a868c2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766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534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062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629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215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074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044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729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368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039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0776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630574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0997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9185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135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5191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762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7194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  <p:sldLayoutId id="2147483742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93412"/>
            <a:ext cx="7772400" cy="1470025"/>
          </a:xfrm>
        </p:spPr>
        <p:txBody>
          <a:bodyPr>
            <a:noAutofit/>
          </a:bodyPr>
          <a:lstStyle/>
          <a:p>
            <a:pPr algn="ctr"/>
            <a:r>
              <a:rPr sz="3600" dirty="0">
                <a:latin typeface="Algerian" panose="04020705040A02060702" pitchFamily="82" charset="0"/>
              </a:rPr>
              <a:t>Heart Disease Prediction using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9343" y="3638797"/>
            <a:ext cx="4894618" cy="2228603"/>
          </a:xfrm>
        </p:spPr>
        <p:txBody>
          <a:bodyPr>
            <a:normAutofit fontScale="92500" lnSpcReduction="20000"/>
          </a:bodyPr>
          <a:lstStyle/>
          <a:p>
            <a:pPr algn="ctr"/>
            <a:endParaRPr lang="en-IN" dirty="0">
              <a:solidFill>
                <a:schemeClr val="tx1"/>
              </a:solidFill>
            </a:endParaRPr>
          </a:p>
          <a:p>
            <a:pPr algn="ctr"/>
            <a:endParaRPr dirty="0">
              <a:solidFill>
                <a:schemeClr val="tx1"/>
              </a:solidFill>
            </a:endParaRPr>
          </a:p>
          <a:p>
            <a:pPr algn="ctr"/>
            <a:r>
              <a:rPr dirty="0">
                <a:solidFill>
                  <a:schemeClr val="tx1"/>
                </a:solidFill>
              </a:rPr>
              <a:t>Madhurima Mukhopadhyay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dirty="0">
                <a:solidFill>
                  <a:schemeClr val="tx1"/>
                </a:solidFill>
              </a:rPr>
              <a:t> Sarika Thumbapura Arun</a:t>
            </a:r>
          </a:p>
          <a:p>
            <a:pPr algn="ctr"/>
            <a:r>
              <a:rPr dirty="0">
                <a:solidFill>
                  <a:schemeClr val="tx1"/>
                </a:solidFill>
              </a:rPr>
              <a:t>Sinchana Datta Pushpa Datta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dirty="0">
                <a:solidFill>
                  <a:schemeClr val="tx1"/>
                </a:solidFill>
              </a:rPr>
              <a:t>Shilpa </a:t>
            </a:r>
            <a:r>
              <a:rPr dirty="0" err="1">
                <a:solidFill>
                  <a:schemeClr val="tx1"/>
                </a:solidFill>
              </a:rPr>
              <a:t>Varadaraju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7147D5-CDB8-1B73-955E-7CD453C463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357" b="94152" l="10000" r="94667">
                        <a14:foregroundMark x1="16667" y1="23392" x2="16667" y2="23392"/>
                        <a14:foregroundMark x1="16000" y1="22222" x2="16000" y2="22222"/>
                        <a14:foregroundMark x1="16000" y1="22222" x2="17333" y2="26901"/>
                        <a14:foregroundMark x1="90667" y1="9357" x2="94667" y2="11696"/>
                        <a14:foregroundMark x1="90667" y1="80702" x2="88000" y2="80702"/>
                        <a14:foregroundMark x1="56667" y1="90058" x2="56667" y2="90058"/>
                        <a14:foregroundMark x1="65333" y1="91813" x2="65333" y2="91813"/>
                        <a14:foregroundMark x1="72667" y1="93567" x2="72667" y2="93567"/>
                        <a14:foregroundMark x1="58000" y1="94152" x2="58000" y2="94152"/>
                        <a14:foregroundMark x1="37333" y1="83041" x2="37333" y2="83041"/>
                        <a14:foregroundMark x1="30667" y1="79532" x2="30667" y2="79532"/>
                        <a14:foregroundMark x1="42000" y1="87135" x2="42000" y2="87135"/>
                        <a14:foregroundMark x1="48667" y1="92398" x2="48667" y2="92398"/>
                        <a14:foregroundMark x1="53333" y1="93567" x2="53333" y2="93567"/>
                        <a14:foregroundMark x1="32667" y1="33333" x2="32667" y2="33333"/>
                        <a14:foregroundMark x1="30000" y1="38012" x2="30000" y2="38012"/>
                        <a14:foregroundMark x1="28667" y1="37427" x2="28667" y2="37427"/>
                        <a14:foregroundMark x1="24000" y1="36842" x2="24000" y2="36842"/>
                        <a14:foregroundMark x1="26667" y1="41520" x2="26667" y2="41520"/>
                        <a14:foregroundMark x1="22000" y1="39766" x2="22000" y2="39766"/>
                        <a14:backgroundMark x1="34000" y1="28655" x2="34000" y2="28655"/>
                        <a14:backgroundMark x1="64000" y1="39766" x2="64000" y2="3976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13961" y="2902200"/>
            <a:ext cx="2438034" cy="27793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691" y="302347"/>
            <a:ext cx="8229600" cy="1143000"/>
          </a:xfrm>
        </p:spPr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7EB03BD-3A9F-67B1-82E3-C1FEA0ECBDB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7225" y="1445347"/>
            <a:ext cx="8329550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Dataset: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Heart Disease Dataset by David Lapp (Kaggle) with features like age, cholesterol, and blood pressure.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Goal: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Apply logistic regression to predict the likelihood of heart disease.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Purpose: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It helps identify major risk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factors and provides insights for early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detection and prevention.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3EA054-93D8-623E-33F3-86A6D18FD1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backgroundMark x1="74157" y1="14045" x2="74157" y2="14045"/>
                        <a14:backgroundMark x1="37079" y1="7303" x2="85955" y2="16292"/>
                        <a14:backgroundMark x1="85955" y1="16292" x2="94944" y2="55056"/>
                        <a14:backgroundMark x1="94944" y1="55056" x2="84270" y2="82584"/>
                        <a14:backgroundMark x1="84270" y1="82584" x2="47753" y2="93820"/>
                        <a14:backgroundMark x1="47753" y1="93820" x2="17978" y2="89888"/>
                        <a14:backgroundMark x1="17978" y1="89888" x2="9551" y2="69663"/>
                        <a14:backgroundMark x1="9551" y1="69663" x2="6180" y2="44944"/>
                        <a14:backgroundMark x1="6180" y1="44944" x2="18539" y2="24157"/>
                        <a14:backgroundMark x1="18539" y1="24157" x2="23596" y2="1966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40093" y="3813429"/>
            <a:ext cx="2596682" cy="259668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46" y="302347"/>
            <a:ext cx="8229600" cy="1143000"/>
          </a:xfrm>
        </p:spPr>
        <p:txBody>
          <a:bodyPr/>
          <a:lstStyle/>
          <a:p>
            <a:r>
              <a:rPr dirty="0"/>
              <a:t>Background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4A0AA02-B003-7049-E774-7AE62E345B6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1734" y="1598454"/>
            <a:ext cx="8229599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Heart disease is a major global health issue influenced by factors like age, cholesterol, and blood pressure.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Machine learning helps analyze complex datasets to identify individuals at risk.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Logistic regression is used for its simplicity and efficiency in predicting heart disease.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382" y="124691"/>
            <a:ext cx="8229600" cy="1143000"/>
          </a:xfrm>
        </p:spPr>
        <p:txBody>
          <a:bodyPr/>
          <a:lstStyle/>
          <a:p>
            <a:r>
              <a:rPr lang="en-IN" dirty="0"/>
              <a:t>Cleaning and Visualization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9382" y="1485405"/>
            <a:ext cx="8393875" cy="48516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dirty="0"/>
              <a:t>Dataset</a:t>
            </a:r>
            <a:r>
              <a:rPr lang="en-IN" dirty="0"/>
              <a:t> has</a:t>
            </a:r>
            <a:r>
              <a:rPr dirty="0"/>
              <a:t> 1025 </a:t>
            </a:r>
            <a:r>
              <a:rPr lang="en-IN" dirty="0"/>
              <a:t>data </a:t>
            </a:r>
            <a:r>
              <a:rPr dirty="0"/>
              <a:t>rows, 13 features + target variable.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b="1" dirty="0"/>
              <a:t>Overall Idea</a:t>
            </a:r>
            <a:r>
              <a:rPr lang="en-US" dirty="0"/>
              <a:t>: </a:t>
            </a:r>
            <a:r>
              <a:rPr lang="en-IN" dirty="0"/>
              <a:t>Data Summary, Datatypes of features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b="1" dirty="0"/>
              <a:t>Data Cleaning</a:t>
            </a:r>
            <a:r>
              <a:rPr dirty="0"/>
              <a:t>: </a:t>
            </a:r>
            <a:r>
              <a:rPr lang="en-IN" dirty="0"/>
              <a:t>Checked for Null Values, </a:t>
            </a:r>
            <a:r>
              <a:rPr dirty="0"/>
              <a:t>Removed duplicate rows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Cleaned dataset has 302 data rows, 13 features + target variable.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dirty="0"/>
              <a:t>• </a:t>
            </a:r>
            <a:r>
              <a:rPr b="1" dirty="0"/>
              <a:t>Visualization</a:t>
            </a:r>
            <a:r>
              <a:rPr dirty="0"/>
              <a:t>: Created bar graphs, pie charts, and correlation</a:t>
            </a:r>
            <a:r>
              <a:rPr lang="en-IN" dirty="0"/>
              <a:t> </a:t>
            </a:r>
            <a:r>
              <a:rPr dirty="0"/>
              <a:t>heatmaps.</a:t>
            </a:r>
            <a:endParaRPr lang="en-IN"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b="1" dirty="0"/>
              <a:t>Key Findings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dirty="0"/>
              <a:t>- Cholesterol increases with age.</a:t>
            </a:r>
          </a:p>
          <a:p>
            <a:pPr marL="0" indent="0">
              <a:buNone/>
            </a:pPr>
            <a:r>
              <a:rPr dirty="0"/>
              <a:t>- Max heart rate decreases with age.</a:t>
            </a:r>
          </a:p>
          <a:p>
            <a:pPr marL="0" indent="0">
              <a:buNone/>
            </a:pPr>
            <a:r>
              <a:rPr dirty="0"/>
              <a:t>- Heart disease more prevalent in younger age groups.</a:t>
            </a:r>
          </a:p>
          <a:p>
            <a:pPr marL="0" indent="0">
              <a:buNone/>
            </a:pPr>
            <a:r>
              <a:rPr dirty="0"/>
              <a:t>- 68%</a:t>
            </a:r>
            <a:r>
              <a:rPr lang="en-IN" dirty="0"/>
              <a:t> </a:t>
            </a:r>
            <a:r>
              <a:rPr dirty="0"/>
              <a:t>male patients </a:t>
            </a:r>
            <a:r>
              <a:rPr lang="en-IN" dirty="0"/>
              <a:t>in the data, </a:t>
            </a:r>
            <a:r>
              <a:rPr dirty="0"/>
              <a:t>45.7% have heart disease.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9A0C3F-0617-E922-781F-DE7ADF4C8E5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24254" y1="67063" x2="24254" y2="67063"/>
                        <a14:foregroundMark x1="57090" y1="63492" x2="57090" y2="63492"/>
                        <a14:foregroundMark x1="46269" y1="66270" x2="46269" y2="66270"/>
                        <a14:foregroundMark x1="69030" y1="56746" x2="69030" y2="56746"/>
                        <a14:foregroundMark x1="82090" y1="60714" x2="82090" y2="60714"/>
                        <a14:foregroundMark x1="37687" y1="74603" x2="37687" y2="746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83999" y="3516086"/>
            <a:ext cx="2472916" cy="2325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B4745-3A70-6B86-3162-17699A38C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968" y="395613"/>
            <a:ext cx="7055380" cy="827712"/>
          </a:xfrm>
        </p:spPr>
        <p:txBody>
          <a:bodyPr/>
          <a:lstStyle/>
          <a:p>
            <a:r>
              <a:rPr lang="en-US" sz="3600" dirty="0"/>
              <a:t>Feature Correlation Heatmap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5B27D-FFC7-F6F5-9243-CD4819F927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225" y="1533196"/>
            <a:ext cx="7592291" cy="1204932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  <a:ea typeface="+mn-ea"/>
                <a:cs typeface="Times New Roman" panose="02020603050405020304" pitchFamily="18" charset="0"/>
              </a:rPr>
              <a:t>Gives correlation coefficient values among all features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  <a:ea typeface="+mn-ea"/>
                <a:cs typeface="Times New Roman" panose="02020603050405020304" pitchFamily="18" charset="0"/>
              </a:rPr>
              <a:t>Shades of Red – stronger positive correlation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  <a:ea typeface="+mn-ea"/>
                <a:cs typeface="Times New Roman" panose="02020603050405020304" pitchFamily="18" charset="0"/>
              </a:rPr>
              <a:t>Shades of Blue – stronger negative correlation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+mn-lt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5" name="Picture 4" descr="A diagram of a graph&#10;&#10;AI-generated content may be incorrect.">
            <a:extLst>
              <a:ext uri="{FF2B5EF4-FFF2-40B4-BE49-F238E27FC236}">
                <a16:creationId xmlns:a16="http://schemas.microsoft.com/office/drawing/2014/main" id="{411F7041-DE89-37D6-D7B5-6B8C89F300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382" y="3047999"/>
            <a:ext cx="4157679" cy="3506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280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C5A1F-24BC-8487-337D-8B8B23E68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222" y="503347"/>
            <a:ext cx="7055380" cy="783191"/>
          </a:xfrm>
        </p:spPr>
        <p:txBody>
          <a:bodyPr/>
          <a:lstStyle/>
          <a:p>
            <a:r>
              <a:rPr lang="en-US" sz="3600" dirty="0"/>
              <a:t>Average Cholesterol by Age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04C57-4636-4065-97F1-EF20454DA7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222" y="1586004"/>
            <a:ext cx="8040307" cy="139111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Data divided into Age Intervals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Older people having more average cholesterol levels than younger people</a:t>
            </a:r>
          </a:p>
        </p:txBody>
      </p:sp>
      <p:pic>
        <p:nvPicPr>
          <p:cNvPr id="5" name="Picture 4" descr="A graph of age vs cholesterol&#10;&#10;AI-generated content may be incorrect.">
            <a:extLst>
              <a:ext uri="{FF2B5EF4-FFF2-40B4-BE49-F238E27FC236}">
                <a16:creationId xmlns:a16="http://schemas.microsoft.com/office/drawing/2014/main" id="{A2D4F487-DA79-E16B-7351-52C8602739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5788" y="3140655"/>
            <a:ext cx="5094732" cy="3213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353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CC77F-8592-FCE7-D0F9-2B527FC6F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274638"/>
            <a:ext cx="7055380" cy="895648"/>
          </a:xfrm>
        </p:spPr>
        <p:txBody>
          <a:bodyPr/>
          <a:lstStyle/>
          <a:p>
            <a:r>
              <a:rPr lang="en-US" sz="3200" dirty="0"/>
              <a:t>Average Max Heart Rate by 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D0754-23AE-197A-8DCE-AEA38027F3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191" y="1074051"/>
            <a:ext cx="8431618" cy="2017492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  <a:cs typeface="Times New Roman" panose="02020603050405020304" pitchFamily="18" charset="0"/>
              </a:rPr>
              <a:t>Plotting </a:t>
            </a:r>
            <a:r>
              <a:rPr lang="en-US" dirty="0" err="1">
                <a:latin typeface="+mn-lt"/>
                <a:cs typeface="Times New Roman" panose="02020603050405020304" pitchFamily="18" charset="0"/>
              </a:rPr>
              <a:t>thalach</a:t>
            </a:r>
            <a:r>
              <a:rPr lang="en-US" dirty="0">
                <a:latin typeface="+mn-lt"/>
                <a:cs typeface="Times New Roman" panose="02020603050405020304" pitchFamily="18" charset="0"/>
              </a:rPr>
              <a:t> -- maximum heart rate achieved during exercise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  <a:cs typeface="Times New Roman" panose="02020603050405020304" pitchFamily="18" charset="0"/>
              </a:rPr>
              <a:t>Increased Heart Rate during exercise means healthier heart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  <a:cs typeface="Times New Roman" panose="02020603050405020304" pitchFamily="18" charset="0"/>
              </a:rPr>
              <a:t>Older people have lower max heart rate during exercise than younger people</a:t>
            </a:r>
            <a:endParaRPr lang="en-US" dirty="0">
              <a:latin typeface="+mn-lt"/>
            </a:endParaRPr>
          </a:p>
        </p:txBody>
      </p:sp>
      <p:pic>
        <p:nvPicPr>
          <p:cNvPr id="7" name="Picture 6" descr="A graph of age versus heart rate&#10;&#10;AI-generated content may be incorrect.">
            <a:extLst>
              <a:ext uri="{FF2B5EF4-FFF2-40B4-BE49-F238E27FC236}">
                <a16:creationId xmlns:a16="http://schemas.microsoft.com/office/drawing/2014/main" id="{FA883D72-FB74-250B-2F85-78ADA139ED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7224" y="3258879"/>
            <a:ext cx="4203575" cy="337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887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F1477-2E25-1212-5D07-BBE95AA35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346" y="230780"/>
            <a:ext cx="7055380" cy="844454"/>
          </a:xfrm>
        </p:spPr>
        <p:txBody>
          <a:bodyPr/>
          <a:lstStyle/>
          <a:p>
            <a:r>
              <a:rPr lang="en-US" dirty="0"/>
              <a:t>Heart Disease by 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6EB1B-1A1E-2314-D14C-74350D2B9B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155" y="1232392"/>
            <a:ext cx="8563690" cy="2120407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Checking the number of people in each interval with and without heart disease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Among all people in the middle age group, majority have a heart disease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The unusual trend could be due to effect of other features</a:t>
            </a:r>
          </a:p>
        </p:txBody>
      </p:sp>
      <p:pic>
        <p:nvPicPr>
          <p:cNvPr id="5" name="Picture 4" descr="A graph of a number of people with different colored bars&#10;&#10;AI-generated content may be incorrect.">
            <a:extLst>
              <a:ext uri="{FF2B5EF4-FFF2-40B4-BE49-F238E27FC236}">
                <a16:creationId xmlns:a16="http://schemas.microsoft.com/office/drawing/2014/main" id="{1D8CAEE6-9E60-7E9E-B65C-97ECC4E022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8914" y="3199050"/>
            <a:ext cx="4292731" cy="3428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232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62519-9748-84EC-2E1C-A557A4778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EB587-58FC-B888-E117-F8EF40939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346" y="213767"/>
            <a:ext cx="7055380" cy="844454"/>
          </a:xfrm>
        </p:spPr>
        <p:txBody>
          <a:bodyPr/>
          <a:lstStyle/>
          <a:p>
            <a:r>
              <a:rPr lang="en-US" dirty="0"/>
              <a:t>Heart Disease % by 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672BC-8E0F-D031-52B4-729C67E7E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377" y="1278260"/>
            <a:ext cx="8563690" cy="128066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Percentage instead of absolute count gives a more clear picture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+mn-lt"/>
              </a:rPr>
              <a:t>Around 66% young people, 54% middle-aged people and 41% old-aged people in our dataset have heart disease</a:t>
            </a:r>
            <a:endParaRPr lang="en-US" sz="1400" dirty="0">
              <a:latin typeface="+mn-lt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4667D3B-7765-33DC-30D5-9E43890741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1488" y="2778962"/>
            <a:ext cx="4826512" cy="3907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66407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EE2F2-595A-839C-7583-0349665F9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184" y="325127"/>
            <a:ext cx="7055380" cy="801924"/>
          </a:xfrm>
        </p:spPr>
        <p:txBody>
          <a:bodyPr>
            <a:normAutofit fontScale="90000"/>
          </a:bodyPr>
          <a:lstStyle/>
          <a:p>
            <a:r>
              <a:rPr lang="en-US" dirty="0"/>
              <a:t>Gender Distribution</a:t>
            </a:r>
            <a:br>
              <a:rPr lang="en-US" dirty="0"/>
            </a:b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8DBB9-DF5F-2F98-6758-0A0CE3EC61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824" y="1331260"/>
            <a:ext cx="8209975" cy="1270426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Pie chart shows distribution of our dataset with respect to gender.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We have around 68% male and 32% female in our dataset</a:t>
            </a:r>
          </a:p>
        </p:txBody>
      </p:sp>
      <p:pic>
        <p:nvPicPr>
          <p:cNvPr id="5" name="Picture 4" descr="A blue and orange pie chart with text&#10;&#10;AI-generated content may be incorrect.">
            <a:extLst>
              <a:ext uri="{FF2B5EF4-FFF2-40B4-BE49-F238E27FC236}">
                <a16:creationId xmlns:a16="http://schemas.microsoft.com/office/drawing/2014/main" id="{A399E942-84F7-F308-3BA1-CADD57D417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6114" y="2960628"/>
            <a:ext cx="3953540" cy="3697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0936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5578F-E979-3141-5843-ECB0A9F4F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119" y="325127"/>
            <a:ext cx="7055380" cy="791291"/>
          </a:xfrm>
        </p:spPr>
        <p:txBody>
          <a:bodyPr/>
          <a:lstStyle/>
          <a:p>
            <a:r>
              <a:rPr lang="en-US" sz="4000" dirty="0"/>
              <a:t>Chest Pain Type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E49F4-C9AD-476D-84C5-E2E782435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119" y="1331260"/>
            <a:ext cx="8373224" cy="184704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Pie chart shows distribution of dataset with respect to chest pain type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Majority people in our dataset (47.4%) have reported a chest pain of type 0, followed by 28.5% reporting chest pain of type 2</a:t>
            </a:r>
            <a:endParaRPr lang="en-US" sz="2400" dirty="0"/>
          </a:p>
        </p:txBody>
      </p:sp>
      <p:pic>
        <p:nvPicPr>
          <p:cNvPr id="5" name="Picture 4" descr="A pie chart with numbers and a number on it&#10;&#10;AI-generated content may be incorrect.">
            <a:extLst>
              <a:ext uri="{FF2B5EF4-FFF2-40B4-BE49-F238E27FC236}">
                <a16:creationId xmlns:a16="http://schemas.microsoft.com/office/drawing/2014/main" id="{02A2CF47-112D-7F9A-5510-1EE090F3D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7324" y="2962921"/>
            <a:ext cx="3859934" cy="356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4119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46EE2-713C-8FD6-B7FB-A61355432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017" y="301583"/>
            <a:ext cx="7055380" cy="825468"/>
          </a:xfrm>
        </p:spPr>
        <p:txBody>
          <a:bodyPr/>
          <a:lstStyle/>
          <a:p>
            <a:r>
              <a:rPr lang="en-US" dirty="0"/>
              <a:t>Heart Disease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51252-A02F-9E8D-3764-814141715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017" y="1309489"/>
            <a:ext cx="8395754" cy="127042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Pie chart shows distribution of our dataset with respect to Heart Disease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Around 46% people in our dataset have heart disease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5" name="Picture 4" descr="A blue and orange circle with text&#10;&#10;AI-generated content may be incorrect.">
            <a:extLst>
              <a:ext uri="{FF2B5EF4-FFF2-40B4-BE49-F238E27FC236}">
                <a16:creationId xmlns:a16="http://schemas.microsoft.com/office/drawing/2014/main" id="{C8D30971-6A80-8AE5-EFDC-77AA16FC51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7061" y="2762353"/>
            <a:ext cx="4424110" cy="3774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0989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5C75A-989C-0EA5-83C4-5D646B075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482" y="315140"/>
            <a:ext cx="7055380" cy="748761"/>
          </a:xfrm>
        </p:spPr>
        <p:txBody>
          <a:bodyPr>
            <a:normAutofit fontScale="90000"/>
          </a:bodyPr>
          <a:lstStyle/>
          <a:p>
            <a:r>
              <a:rPr lang="en-US" dirty="0"/>
              <a:t>Gender vs Chest Pain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A819E-7891-0A59-D934-62644D69A8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482" y="1394449"/>
            <a:ext cx="8229600" cy="748761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For each type of chest pain, we visualize the number of male vs female in each group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+mn-lt"/>
            </a:endParaRPr>
          </a:p>
        </p:txBody>
      </p:sp>
      <p:pic>
        <p:nvPicPr>
          <p:cNvPr id="9" name="Picture 8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03B1277F-3864-206A-BAF3-9325F6F5A6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4614" y="2849268"/>
            <a:ext cx="4971986" cy="3693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9844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FDE1B-A5A8-0622-5F3F-ED853A648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691" y="106325"/>
            <a:ext cx="8229600" cy="893135"/>
          </a:xfrm>
        </p:spPr>
        <p:txBody>
          <a:bodyPr/>
          <a:lstStyle/>
          <a:p>
            <a:r>
              <a:rPr lang="en-US" dirty="0"/>
              <a:t>Heart Disease vs Chest Pain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A47E4-AF85-A9B0-618E-8343FB817A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136" y="1010346"/>
            <a:ext cx="8651727" cy="236701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For each type of chest pain, we visualize the number people who have Heart Disease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Majority of the people having chest pain type 0 do not have the heart disease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For all other chest pain types, we have majority people suffering from the heart disease</a:t>
            </a:r>
          </a:p>
        </p:txBody>
      </p:sp>
      <p:pic>
        <p:nvPicPr>
          <p:cNvPr id="5" name="Picture 4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7DC0A3F3-11B0-D8C5-4890-636F60E15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8778" y="3377356"/>
            <a:ext cx="4246441" cy="3253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0010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C2568-8206-D35B-5FA2-95EC259FC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A845A-76D2-1822-1EF4-7E1939E74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699" y="1769897"/>
            <a:ext cx="7303929" cy="2856532"/>
          </a:xfrm>
        </p:spPr>
        <p:txBody>
          <a:bodyPr/>
          <a:lstStyle/>
          <a:p>
            <a:r>
              <a:rPr lang="en-IN" dirty="0"/>
              <a:t>Create a model to predict presence or absence of heart disease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Train model with 70% of data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Test model on remaining 30%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F622D6-AADE-0A02-4A3C-5FB9E39200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871" b="90558" l="9966" r="89865">
                        <a14:foregroundMark x1="49662" y1="90558" x2="49662" y2="90558"/>
                        <a14:foregroundMark x1="65034" y1="87124" x2="65034" y2="87124"/>
                        <a14:foregroundMark x1="41385" y1="25322" x2="41385" y2="2532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15224" y="3198163"/>
            <a:ext cx="3759393" cy="2959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0996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982D8-E963-E79A-5AD3-AE43C5B87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195" y="226353"/>
            <a:ext cx="7055380" cy="766482"/>
          </a:xfrm>
        </p:spPr>
        <p:txBody>
          <a:bodyPr/>
          <a:lstStyle/>
          <a:p>
            <a:r>
              <a:rPr lang="en-IN" dirty="0"/>
              <a:t>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6D488-2F5A-0419-C27D-116F46AB03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973" y="1404257"/>
            <a:ext cx="8333455" cy="5083635"/>
          </a:xfrm>
        </p:spPr>
        <p:txBody>
          <a:bodyPr>
            <a:normAutofit lnSpcReduction="10000"/>
          </a:bodyPr>
          <a:lstStyle/>
          <a:p>
            <a:r>
              <a:rPr lang="en-IN" sz="2400" dirty="0"/>
              <a:t>Feature Selection</a:t>
            </a:r>
            <a:r>
              <a:rPr lang="en-IN" dirty="0"/>
              <a:t>: using hypothesis testing (</a:t>
            </a:r>
            <a:r>
              <a:rPr lang="en-IN" dirty="0" err="1"/>
              <a:t>SelectKBest</a:t>
            </a:r>
            <a:r>
              <a:rPr lang="en-IN" dirty="0"/>
              <a:t> package) –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dirty="0"/>
              <a:t>Checks correlation between all features and target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dirty="0"/>
              <a:t>Tests null hypothesis : no relation between Xi and y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dirty="0"/>
              <a:t>Calculates test statistic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dirty="0"/>
              <a:t>Concludes based on p-value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Top 7 most significant features selected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Split the data into training and test sets using 70-30 rule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Used a Linear Regression Model to predict the target variable from input feature values</a:t>
            </a:r>
          </a:p>
        </p:txBody>
      </p:sp>
    </p:spTree>
    <p:extLst>
      <p:ext uri="{BB962C8B-B14F-4D97-AF65-F5344CB8AC3E}">
        <p14:creationId xmlns:p14="http://schemas.microsoft.com/office/powerpoint/2010/main" val="17484722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8B51D-32B3-8952-044C-DBBA709D7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510" y="300318"/>
            <a:ext cx="7055380" cy="886225"/>
          </a:xfrm>
        </p:spPr>
        <p:txBody>
          <a:bodyPr/>
          <a:lstStyle/>
          <a:p>
            <a:r>
              <a:rPr lang="en-IN" dirty="0"/>
              <a:t>Model Accuracy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BF1D5-C922-818C-31F3-2ED9A5567E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214" y="1211520"/>
            <a:ext cx="7554300" cy="886225"/>
          </a:xfrm>
        </p:spPr>
        <p:txBody>
          <a:bodyPr/>
          <a:lstStyle/>
          <a:p>
            <a:r>
              <a:rPr lang="en-IN" dirty="0"/>
              <a:t>R² is approximately 0.42197 =&gt; only 42% of the variation of y is explained by our model</a:t>
            </a:r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CACCE2-2EA2-88C6-51A5-0BAE3C0D3B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6080" y="2122722"/>
            <a:ext cx="4444092" cy="3141237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4107E76-C93E-6B7D-799F-05BE90F5679A}"/>
              </a:ext>
            </a:extLst>
          </p:cNvPr>
          <p:cNvSpPr txBox="1">
            <a:spLocks/>
          </p:cNvSpPr>
          <p:nvPr/>
        </p:nvSpPr>
        <p:spPr>
          <a:xfrm>
            <a:off x="588214" y="5525468"/>
            <a:ext cx="8033272" cy="103221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6" indent="-342906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62" indent="-285755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20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27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34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42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49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57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64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IN" dirty="0"/>
              <a:t>Model predicts majority values with significant error.</a:t>
            </a:r>
          </a:p>
          <a:p>
            <a:r>
              <a:rPr lang="en-IN" dirty="0"/>
              <a:t>Model performance is poor – mainly because data labels are binary (Logistic model will be a better fit)</a:t>
            </a:r>
          </a:p>
          <a:p>
            <a:endParaRPr lang="en-IN" dirty="0"/>
          </a:p>
          <a:p>
            <a:pPr marL="0" indent="0">
              <a:buFont typeface="Wingdings 3" charset="2"/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902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C41DF-24EA-10A6-EC3B-F60B751EA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43" y="147919"/>
            <a:ext cx="7055380" cy="907996"/>
          </a:xfrm>
        </p:spPr>
        <p:txBody>
          <a:bodyPr/>
          <a:lstStyle/>
          <a:p>
            <a:r>
              <a:rPr lang="en-IN" dirty="0"/>
              <a:t>Logistic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7CAFA-C723-4231-F74E-D6116CC0E1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143" y="1015889"/>
            <a:ext cx="8621486" cy="701159"/>
          </a:xfrm>
        </p:spPr>
        <p:txBody>
          <a:bodyPr/>
          <a:lstStyle/>
          <a:p>
            <a:r>
              <a:rPr lang="en-IN" dirty="0"/>
              <a:t>Used same 70-30 split, but with all features to fit a Logistic Regression Model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8422DB-E53A-BB0F-E148-646E990110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1074" y="1934771"/>
            <a:ext cx="5301851" cy="3286862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DA52167-6523-5576-B584-BF1CD3156778}"/>
              </a:ext>
            </a:extLst>
          </p:cNvPr>
          <p:cNvSpPr txBox="1">
            <a:spLocks/>
          </p:cNvSpPr>
          <p:nvPr/>
        </p:nvSpPr>
        <p:spPr>
          <a:xfrm>
            <a:off x="337456" y="5402826"/>
            <a:ext cx="8621486" cy="13072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6" indent="-342906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62" indent="-285755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20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27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34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42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49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57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64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IN" dirty="0"/>
              <a:t>Model accuracy is 82.5% -- overall performance not too bad</a:t>
            </a:r>
          </a:p>
          <a:p>
            <a:r>
              <a:rPr lang="en-IN" dirty="0"/>
              <a:t>Low Type I Error -- Total number of False Positives (predicting as ‘disease’ when that is false) is 38.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58589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999C4-150B-E917-3BD2-95FE423C3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681" y="106601"/>
            <a:ext cx="7055380" cy="788253"/>
          </a:xfrm>
        </p:spPr>
        <p:txBody>
          <a:bodyPr/>
          <a:lstStyle/>
          <a:p>
            <a:r>
              <a:rPr lang="en-IN" dirty="0"/>
              <a:t>Model Performance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76953C6-1270-A141-B641-B1D1F3700AAC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10538" y="2160603"/>
            <a:ext cx="8349343" cy="4457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600" b="0" i="0" dirty="0">
                <a:solidFill>
                  <a:srgbClr val="E3E3E3"/>
                </a:solidFill>
                <a:effectLst/>
                <a:latin typeface="Google Sans Text"/>
              </a:rPr>
              <a:t>For Class 0 (No Heart Disease)</a:t>
            </a:r>
          </a:p>
          <a:p>
            <a:pPr algn="l">
              <a:buNone/>
            </a:pPr>
            <a:r>
              <a:rPr lang="en-US" sz="1600" b="0" i="0" dirty="0">
                <a:solidFill>
                  <a:srgbClr val="E3E3E3"/>
                </a:solidFill>
                <a:effectLst/>
                <a:latin typeface="Google Sans Text"/>
              </a:rPr>
              <a:t>Precision: 0.88 means out of all predicted “no disease”, 88% were really no disease.</a:t>
            </a:r>
          </a:p>
          <a:p>
            <a:pPr algn="l">
              <a:buNone/>
            </a:pPr>
            <a:r>
              <a:rPr lang="en-US" sz="1600" b="0" i="0" dirty="0">
                <a:solidFill>
                  <a:srgbClr val="E3E3E3"/>
                </a:solidFill>
                <a:effectLst/>
                <a:latin typeface="Google Sans Text"/>
              </a:rPr>
              <a:t>Recall: 0.75 means out of all actual “no disease” cases, the model correctly found 75%.</a:t>
            </a:r>
          </a:p>
          <a:p>
            <a:pPr algn="l">
              <a:buNone/>
            </a:pPr>
            <a:r>
              <a:rPr lang="en-US" sz="1600" b="0" i="0" dirty="0">
                <a:solidFill>
                  <a:srgbClr val="E3E3E3"/>
                </a:solidFill>
                <a:effectLst/>
                <a:latin typeface="Google Sans Text"/>
              </a:rPr>
              <a:t>It missed 25% of them → that matches the 38 false positives in confusion matrix.</a:t>
            </a:r>
          </a:p>
          <a:p>
            <a:pPr algn="l">
              <a:buNone/>
            </a:pPr>
            <a:r>
              <a:rPr lang="en-US" sz="1600" b="0" i="0" dirty="0">
                <a:solidFill>
                  <a:srgbClr val="E3E3E3"/>
                </a:solidFill>
                <a:effectLst/>
                <a:latin typeface="Google Sans Text"/>
              </a:rPr>
              <a:t>F1-score: 0.81 gives a balance of precision &amp; recall (the higher the better)</a:t>
            </a:r>
          </a:p>
          <a:p>
            <a:pPr algn="l">
              <a:buNone/>
            </a:pPr>
            <a:endParaRPr lang="en-US" sz="1600" b="0" i="0" dirty="0">
              <a:solidFill>
                <a:srgbClr val="E3E3E3"/>
              </a:solidFill>
              <a:effectLst/>
              <a:latin typeface="Google Sans Text"/>
            </a:endParaRPr>
          </a:p>
          <a:p>
            <a:pPr algn="l">
              <a:buNone/>
            </a:pPr>
            <a:r>
              <a:rPr lang="en-US" sz="1600" b="0" i="0" dirty="0">
                <a:solidFill>
                  <a:srgbClr val="E3E3E3"/>
                </a:solidFill>
                <a:effectLst/>
                <a:latin typeface="Google Sans Text"/>
              </a:rPr>
              <a:t>For Class 1 (With Heart Disease)</a:t>
            </a:r>
          </a:p>
          <a:p>
            <a:pPr algn="l">
              <a:buNone/>
            </a:pPr>
            <a:r>
              <a:rPr lang="en-US" sz="1600" b="0" i="0" dirty="0">
                <a:solidFill>
                  <a:srgbClr val="E3E3E3"/>
                </a:solidFill>
                <a:effectLst/>
                <a:latin typeface="Google Sans Text"/>
              </a:rPr>
              <a:t>Precision: 0.79 means when the model predicts “disease”, it is correct 79% of the time.</a:t>
            </a:r>
          </a:p>
          <a:p>
            <a:pPr algn="l">
              <a:buNone/>
            </a:pPr>
            <a:r>
              <a:rPr lang="en-US" sz="1600" b="0" i="0" dirty="0">
                <a:solidFill>
                  <a:srgbClr val="E3E3E3"/>
                </a:solidFill>
                <a:effectLst/>
                <a:latin typeface="Google Sans Text"/>
              </a:rPr>
              <a:t>It still has 21% false alarms.</a:t>
            </a:r>
          </a:p>
          <a:p>
            <a:pPr algn="l">
              <a:buNone/>
            </a:pPr>
            <a:r>
              <a:rPr lang="en-US" sz="1600" b="0" i="0" dirty="0">
                <a:solidFill>
                  <a:srgbClr val="E3E3E3"/>
                </a:solidFill>
                <a:effectLst/>
                <a:latin typeface="Google Sans Text"/>
              </a:rPr>
              <a:t>Recall: 0.90 means the model catches 90% of patients who actually have heart disease.</a:t>
            </a:r>
          </a:p>
          <a:p>
            <a:pPr algn="l">
              <a:buNone/>
            </a:pPr>
            <a:r>
              <a:rPr lang="en-US" sz="1600" b="0" i="0" dirty="0">
                <a:solidFill>
                  <a:srgbClr val="E3E3E3"/>
                </a:solidFill>
                <a:effectLst/>
                <a:latin typeface="Google Sans Text"/>
              </a:rPr>
              <a:t>Only 16 are False Negatives out of 158.</a:t>
            </a:r>
          </a:p>
          <a:p>
            <a:pPr algn="l">
              <a:buNone/>
            </a:pPr>
            <a:r>
              <a:rPr lang="en-US" sz="1600" b="0" i="0" dirty="0">
                <a:solidFill>
                  <a:srgbClr val="E3E3E3"/>
                </a:solidFill>
                <a:effectLst/>
                <a:latin typeface="Google Sans Text"/>
              </a:rPr>
              <a:t>F1-score: 0.84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684046-DB47-9A3C-396D-46B9A3EF6563}"/>
              </a:ext>
            </a:extLst>
          </p:cNvPr>
          <p:cNvSpPr txBox="1"/>
          <p:nvPr/>
        </p:nvSpPr>
        <p:spPr>
          <a:xfrm>
            <a:off x="201681" y="816429"/>
            <a:ext cx="4297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 Classification Report shows that: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899500D-2891-A3B4-8D64-E804973F65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106" y="767930"/>
            <a:ext cx="3743866" cy="1760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0451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20C9F-8DF4-A5F2-2A06-05C909D05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599" y="271796"/>
            <a:ext cx="8567057" cy="675595"/>
          </a:xfrm>
        </p:spPr>
        <p:txBody>
          <a:bodyPr/>
          <a:lstStyle/>
          <a:p>
            <a:r>
              <a:rPr lang="en-IN" dirty="0"/>
              <a:t>Visualizing Model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530B1-774C-85A5-5AB3-7E5736D2D7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457" y="5079848"/>
            <a:ext cx="8458199" cy="1506356"/>
          </a:xfrm>
        </p:spPr>
        <p:txBody>
          <a:bodyPr>
            <a:normAutofit/>
          </a:bodyPr>
          <a:lstStyle/>
          <a:p>
            <a:r>
              <a:rPr lang="en-US" sz="1800" dirty="0"/>
              <a:t>Most of the actual patients with no disease (blue bars) have been predicted to have low probability of having the disease.</a:t>
            </a:r>
          </a:p>
          <a:p>
            <a:r>
              <a:rPr lang="en-US" sz="1800" dirty="0"/>
              <a:t>Most of the actual patients with the disease (orange bars) have been predicted to have high probability of having the disease.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64EA39-79BC-4EBC-DF7E-850A18031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7745" y="1098777"/>
            <a:ext cx="4717598" cy="3819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017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9"/>
          <p:cNvSpPr txBox="1">
            <a:spLocks noGrp="1"/>
          </p:cNvSpPr>
          <p:nvPr>
            <p:ph type="title"/>
          </p:nvPr>
        </p:nvSpPr>
        <p:spPr>
          <a:xfrm>
            <a:off x="484710" y="452718"/>
            <a:ext cx="7055380" cy="691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SzPts val="4200"/>
            </a:pPr>
            <a:r>
              <a:rPr lang="en-US" sz="3200" dirty="0"/>
              <a:t>GUI </a:t>
            </a:r>
            <a:r>
              <a:rPr lang="en-US" sz="3200" dirty="0"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for Heart Disease Prediction</a:t>
            </a:r>
            <a:endParaRPr sz="3200" dirty="0"/>
          </a:p>
        </p:txBody>
      </p:sp>
      <p:sp>
        <p:nvSpPr>
          <p:cNvPr id="289" name="Google Shape;289;p39"/>
          <p:cNvSpPr txBox="1">
            <a:spLocks noGrp="1"/>
          </p:cNvSpPr>
          <p:nvPr>
            <p:ph type="body" idx="1"/>
          </p:nvPr>
        </p:nvSpPr>
        <p:spPr>
          <a:xfrm>
            <a:off x="176536" y="1169303"/>
            <a:ext cx="8343900" cy="5478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endParaRPr lang="en-US" dirty="0">
              <a:latin typeface="Century Gothic" panose="020B0502020202020204" pitchFamily="34" charset="0"/>
            </a:endParaRPr>
          </a:p>
          <a:p>
            <a: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►"/>
            </a:pPr>
            <a:r>
              <a:rPr lang="en-US" sz="2200" b="0" i="0" u="none" strike="noStrike" cap="none" dirty="0"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Built using </a:t>
            </a:r>
            <a:r>
              <a:rPr lang="en-US" sz="2200" b="1" i="0" u="none" strike="noStrike" cap="none" dirty="0" err="1"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Streamlit</a:t>
            </a:r>
            <a:r>
              <a:rPr lang="en-US" sz="2200" b="0" i="0" u="none" strike="noStrike" cap="none" dirty="0"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 to make the model interactive and easy to use.</a:t>
            </a:r>
            <a:endParaRPr lang="en-US" dirty="0">
              <a:latin typeface="Century Gothic" panose="020B0502020202020204" pitchFamily="34" charset="0"/>
            </a:endParaRPr>
          </a:p>
          <a:p>
            <a: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►"/>
            </a:pPr>
            <a:r>
              <a:rPr lang="en-US" sz="2200" b="1" i="0" u="none" strike="noStrike" cap="none" dirty="0"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Logistic Regression</a:t>
            </a:r>
            <a:r>
              <a:rPr lang="en-US" sz="2200" b="0" i="0" u="none" strike="noStrike" cap="none" dirty="0"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 chosen because it fits binary prediction and gives 0–1 probability outputs.</a:t>
            </a:r>
            <a:endParaRPr dirty="0">
              <a:latin typeface="Century Gothic" panose="020B0502020202020204" pitchFamily="34" charset="0"/>
            </a:endParaRPr>
          </a:p>
          <a:p>
            <a: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►"/>
            </a:pPr>
            <a:r>
              <a:rPr lang="en-US" sz="2200" b="1" i="0" u="none" strike="noStrike" cap="none" dirty="0"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Linear Regression</a:t>
            </a:r>
            <a:r>
              <a:rPr lang="en-US" sz="2200" b="0" i="0" u="none" strike="noStrike" cap="none" dirty="0"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 gave poor performance (R² = 0.42) and invalid predictions, so it was not used.</a:t>
            </a:r>
            <a:endParaRPr dirty="0">
              <a:latin typeface="Century Gothic" panose="020B0502020202020204" pitchFamily="34" charset="0"/>
            </a:endParaRPr>
          </a:p>
          <a:p>
            <a: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►"/>
            </a:pPr>
            <a:r>
              <a:rPr lang="en-US" sz="2200" b="0" i="0" u="none" strike="noStrike" cap="none" dirty="0"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GUI allows input of clinical features: chest pain type, angina, max heart rate, ST depression, slope, vessels, </a:t>
            </a:r>
            <a:r>
              <a:rPr lang="en-US" sz="2200" b="0" i="0" u="none" strike="noStrike" cap="none" dirty="0" err="1"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thal</a:t>
            </a:r>
            <a:r>
              <a:rPr lang="en-US" sz="2200" b="0" i="0" u="none" strike="noStrike" cap="none" dirty="0"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.</a:t>
            </a:r>
            <a:endParaRPr dirty="0">
              <a:latin typeface="Century Gothic" panose="020B0502020202020204" pitchFamily="34" charset="0"/>
            </a:endParaRPr>
          </a:p>
          <a:p>
            <a: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►"/>
            </a:pPr>
            <a:r>
              <a:rPr lang="en-US" sz="2200" b="0" i="0" u="none" strike="noStrike" cap="none" dirty="0"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Model displays: </a:t>
            </a:r>
            <a:r>
              <a:rPr lang="en-US" sz="2200" b="1" i="0" u="none" strike="noStrike" cap="none" dirty="0"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Prediction (1/0)</a:t>
            </a:r>
            <a:r>
              <a:rPr lang="en-US" sz="2200" b="0" i="0" u="none" strike="noStrike" cap="none" dirty="0"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, </a:t>
            </a:r>
            <a:r>
              <a:rPr lang="en-US" sz="2200" b="1" i="0" u="none" strike="noStrike" cap="none" dirty="0"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probability score</a:t>
            </a:r>
            <a:r>
              <a:rPr lang="en-US" sz="2200" b="0" i="0" u="none" strike="noStrike" cap="none" dirty="0"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, and a </a:t>
            </a:r>
            <a:r>
              <a:rPr lang="en-US" sz="2200" b="1" i="0" u="none" strike="noStrike" cap="none" dirty="0"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risk message</a:t>
            </a:r>
            <a:r>
              <a:rPr lang="en-US" sz="2200" b="0" i="0" u="none" strike="noStrike" cap="none" dirty="0"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.</a:t>
            </a:r>
            <a:endParaRPr dirty="0">
              <a:latin typeface="Century Gothic" panose="020B0502020202020204" pitchFamily="34" charset="0"/>
            </a:endParaRPr>
          </a:p>
          <a:p>
            <a: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►"/>
            </a:pPr>
            <a:r>
              <a:rPr lang="en-US" sz="2200" b="0" i="0" u="none" strike="noStrike" cap="none" dirty="0"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Example 1: High-risk inputs → </a:t>
            </a:r>
            <a:r>
              <a:rPr lang="en-US" sz="2200" b="1" i="0" u="none" strike="noStrike" cap="none" dirty="0"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Heart Disease</a:t>
            </a:r>
            <a:r>
              <a:rPr lang="en-US" sz="2200" b="0" i="0" u="none" strike="noStrike" cap="none" dirty="0"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, probability </a:t>
            </a:r>
            <a:r>
              <a:rPr lang="en-US" sz="2200" b="1" i="0" u="none" strike="noStrike" cap="none" dirty="0"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0.8463</a:t>
            </a:r>
            <a:r>
              <a:rPr lang="en-US" sz="2200" b="0" i="0" u="none" strike="noStrike" cap="none" dirty="0"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.</a:t>
            </a:r>
            <a:endParaRPr dirty="0">
              <a:latin typeface="Century Gothic" panose="020B0502020202020204" pitchFamily="34" charset="0"/>
            </a:endParaRPr>
          </a:p>
          <a:p>
            <a: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►"/>
            </a:pPr>
            <a:r>
              <a:rPr lang="en-US" sz="2200" b="0" i="0" u="none" strike="noStrike" cap="none" dirty="0"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Example 2: Low-risk inputs → </a:t>
            </a:r>
            <a:r>
              <a:rPr lang="en-US" sz="2200" b="1" i="0" u="none" strike="noStrike" cap="none" dirty="0"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No Heart Disease</a:t>
            </a:r>
            <a:r>
              <a:rPr lang="en-US" sz="2200" b="0" i="0" u="none" strike="noStrike" cap="none" dirty="0"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, probability </a:t>
            </a:r>
            <a:r>
              <a:rPr lang="en-US" sz="2200" b="1" i="0" u="none" strike="noStrike" cap="none" dirty="0"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0.4678</a:t>
            </a:r>
            <a:r>
              <a:rPr lang="en-US" sz="2200" b="0" i="0" u="none" strike="noStrike" cap="none" dirty="0"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.</a:t>
            </a:r>
            <a:endParaRPr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0"/>
          <p:cNvSpPr txBox="1">
            <a:spLocks noGrp="1"/>
          </p:cNvSpPr>
          <p:nvPr>
            <p:ph type="title"/>
          </p:nvPr>
        </p:nvSpPr>
        <p:spPr>
          <a:xfrm>
            <a:off x="484700" y="452722"/>
            <a:ext cx="7055400" cy="783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GUI Examples</a:t>
            </a:r>
            <a:endParaRPr dirty="0"/>
          </a:p>
        </p:txBody>
      </p:sp>
      <p:pic>
        <p:nvPicPr>
          <p:cNvPr id="295" name="Google Shape;29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63850"/>
            <a:ext cx="4248400" cy="504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9225" y="1663850"/>
            <a:ext cx="4152351" cy="5041749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40"/>
          <p:cNvSpPr txBox="1"/>
          <p:nvPr/>
        </p:nvSpPr>
        <p:spPr>
          <a:xfrm>
            <a:off x="152400" y="1314050"/>
            <a:ext cx="3748200" cy="3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Heart Disease (1)</a:t>
            </a:r>
            <a:endParaRPr sz="12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200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8" name="Google Shape;298;p40"/>
          <p:cNvSpPr txBox="1"/>
          <p:nvPr/>
        </p:nvSpPr>
        <p:spPr>
          <a:xfrm>
            <a:off x="4891300" y="1274888"/>
            <a:ext cx="3748200" cy="3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Heart Disease (0)</a:t>
            </a:r>
            <a:endParaRPr sz="12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200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1"/>
          <p:cNvSpPr txBox="1">
            <a:spLocks noGrp="1"/>
          </p:cNvSpPr>
          <p:nvPr>
            <p:ph type="title"/>
          </p:nvPr>
        </p:nvSpPr>
        <p:spPr>
          <a:xfrm>
            <a:off x="400375" y="255429"/>
            <a:ext cx="7055400" cy="8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 dirty="0"/>
              <a:t>Future Work</a:t>
            </a:r>
            <a:endParaRPr dirty="0"/>
          </a:p>
        </p:txBody>
      </p:sp>
      <p:sp>
        <p:nvSpPr>
          <p:cNvPr id="304" name="Google Shape;304;p41"/>
          <p:cNvSpPr txBox="1">
            <a:spLocks noGrp="1"/>
          </p:cNvSpPr>
          <p:nvPr>
            <p:ph type="body" idx="1"/>
          </p:nvPr>
        </p:nvSpPr>
        <p:spPr>
          <a:xfrm>
            <a:off x="400375" y="1396432"/>
            <a:ext cx="8332200" cy="4797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20040" algn="just" rtl="0">
              <a:spcBef>
                <a:spcPts val="0"/>
              </a:spcBef>
              <a:spcAft>
                <a:spcPts val="0"/>
              </a:spcAft>
              <a:buSzPts val="1440"/>
              <a:buFont typeface="Arial"/>
              <a:buChar char="►"/>
            </a:pPr>
            <a:r>
              <a:rPr lang="en-US" b="1" dirty="0"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Explore Advanced Models:</a:t>
            </a:r>
            <a:r>
              <a:rPr lang="en-US" dirty="0"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 Implement and evaluate robust classification algorithms like Random Forest (RF), </a:t>
            </a:r>
            <a:r>
              <a:rPr lang="en-US" dirty="0" err="1"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XGBoost</a:t>
            </a:r>
            <a:r>
              <a:rPr lang="en-US" dirty="0"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, SVM, and Neural Networks (MLP).</a:t>
            </a:r>
            <a:endParaRPr dirty="0">
              <a:latin typeface="Century Gothic" panose="020B0502020202020204" pitchFamily="34" charset="0"/>
              <a:ea typeface="Arial"/>
              <a:cs typeface="Arial"/>
              <a:sym typeface="Arial"/>
            </a:endParaRPr>
          </a:p>
          <a:p>
            <a:pPr marL="457200" lvl="0" indent="-320040" algn="just" rtl="0">
              <a:spcBef>
                <a:spcPts val="0"/>
              </a:spcBef>
              <a:spcAft>
                <a:spcPts val="0"/>
              </a:spcAft>
              <a:buSzPts val="1440"/>
              <a:buFont typeface="Arial"/>
              <a:buChar char="►"/>
            </a:pPr>
            <a:r>
              <a:rPr lang="en-US" b="1" dirty="0"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Comparative Analysis: </a:t>
            </a:r>
            <a:r>
              <a:rPr lang="en-US" dirty="0"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Focus on finding a model that offers a better balance of predictive performance (higher recall for the "disease" class) and computational efficiency.</a:t>
            </a:r>
            <a:endParaRPr dirty="0">
              <a:latin typeface="Century Gothic" panose="020B0502020202020204" pitchFamily="34" charset="0"/>
              <a:ea typeface="Arial"/>
              <a:cs typeface="Arial"/>
              <a:sym typeface="Arial"/>
            </a:endParaRPr>
          </a:p>
          <a:p>
            <a:pPr marL="457200" lvl="0" indent="-320040" algn="just" rtl="0">
              <a:spcBef>
                <a:spcPts val="0"/>
              </a:spcBef>
              <a:spcAft>
                <a:spcPts val="0"/>
              </a:spcAft>
              <a:buSzPts val="1440"/>
              <a:buFont typeface="Arial"/>
              <a:buChar char="►"/>
            </a:pPr>
            <a:r>
              <a:rPr lang="en-US" b="1" dirty="0"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Cross-Dataset Validation:</a:t>
            </a:r>
            <a:r>
              <a:rPr lang="en-US" dirty="0"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 Rigorously test the current Logistic Regression model on multiple, distinct heart disease datasets to demonstrate model robustness and generalizability.</a:t>
            </a:r>
            <a:endParaRPr dirty="0">
              <a:latin typeface="Century Gothic" panose="020B0502020202020204" pitchFamily="34" charset="0"/>
              <a:ea typeface="Arial"/>
              <a:cs typeface="Arial"/>
              <a:sym typeface="Arial"/>
            </a:endParaRPr>
          </a:p>
          <a:p>
            <a:pPr marL="457200" lvl="0" indent="-320040" algn="just" rtl="0">
              <a:spcBef>
                <a:spcPts val="0"/>
              </a:spcBef>
              <a:spcAft>
                <a:spcPts val="0"/>
              </a:spcAft>
              <a:buSzPts val="1440"/>
              <a:buFont typeface="Arial"/>
              <a:buChar char="►"/>
            </a:pPr>
            <a:r>
              <a:rPr lang="en-US" b="1" dirty="0"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Integrate Statistical Visualizations:</a:t>
            </a:r>
            <a:r>
              <a:rPr lang="en-US" dirty="0"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 Enhance the GUI by incorporating bar charts and histograms to contextualize the individual's predicted risk.</a:t>
            </a:r>
            <a:endParaRPr dirty="0">
              <a:latin typeface="Century Gothic" panose="020B0502020202020204" pitchFamily="34" charset="0"/>
              <a:ea typeface="Arial"/>
              <a:cs typeface="Arial"/>
              <a:sym typeface="Arial"/>
            </a:endParaRPr>
          </a:p>
          <a:p>
            <a:pPr marL="457200" lvl="0" indent="-320040" algn="just" rtl="0">
              <a:spcBef>
                <a:spcPts val="0"/>
              </a:spcBef>
              <a:spcAft>
                <a:spcPts val="0"/>
              </a:spcAft>
              <a:buSzPts val="1440"/>
              <a:buFont typeface="Arial"/>
              <a:buChar char="►"/>
            </a:pPr>
            <a:r>
              <a:rPr lang="en-US" b="1" dirty="0"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Intuitive Risk Assessment:</a:t>
            </a:r>
            <a:r>
              <a:rPr lang="en-US" dirty="0"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 Enable users to see their predicted risk level compared to the overall population distribution for more intuitive and interpretable results.</a:t>
            </a:r>
            <a:endParaRPr dirty="0">
              <a:latin typeface="Century Gothic" panose="020B0502020202020204" pitchFamily="34" charset="0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AE862-061F-9A3C-2DEC-F18A08EA0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853568"/>
          </a:xfrm>
        </p:spPr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AFAAA-CB42-46C5-3438-172B5101F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710" y="1643743"/>
            <a:ext cx="8479971" cy="4844141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dirty="0">
                <a:latin typeface="+mn-lt"/>
              </a:rPr>
              <a:t>Pre-processing - accuracy and reliability</a:t>
            </a:r>
          </a:p>
          <a:p>
            <a:pPr marL="0" indent="0">
              <a:buNone/>
            </a:pPr>
            <a:endParaRPr lang="en-US" altLang="en-US" dirty="0">
              <a:latin typeface="+mn-lt"/>
            </a:endParaRPr>
          </a:p>
          <a:p>
            <a:r>
              <a:rPr lang="en-US" altLang="en-US" dirty="0">
                <a:latin typeface="+mn-lt"/>
              </a:rPr>
              <a:t>Visualizations - uncover key trends and insights</a:t>
            </a:r>
          </a:p>
          <a:p>
            <a:pPr marL="0" indent="0">
              <a:buNone/>
            </a:pPr>
            <a:endParaRPr lang="en-US" altLang="en-US" dirty="0">
              <a:latin typeface="+mn-lt"/>
            </a:endParaRPr>
          </a:p>
          <a:p>
            <a:r>
              <a:rPr lang="en-US" altLang="en-US" dirty="0">
                <a:latin typeface="+mn-lt"/>
              </a:rPr>
              <a:t>Linear Regression model - performed poorly due to the binary target</a:t>
            </a:r>
          </a:p>
          <a:p>
            <a:pPr marL="0" indent="0">
              <a:buNone/>
            </a:pPr>
            <a:endParaRPr lang="en-US" altLang="en-US" dirty="0">
              <a:latin typeface="+mn-lt"/>
            </a:endParaRPr>
          </a:p>
          <a:p>
            <a:r>
              <a:rPr lang="en-US" altLang="en-US" dirty="0">
                <a:latin typeface="+mn-lt"/>
              </a:rPr>
              <a:t>Logistic Regression model - meaningful predictive performance</a:t>
            </a:r>
          </a:p>
          <a:p>
            <a:pPr marL="0" indent="0">
              <a:buNone/>
            </a:pPr>
            <a:endParaRPr lang="en-US" altLang="en-US" dirty="0">
              <a:latin typeface="+mn-lt"/>
            </a:endParaRPr>
          </a:p>
          <a:p>
            <a:r>
              <a:rPr lang="en-US" altLang="en-US" dirty="0">
                <a:latin typeface="+mn-lt"/>
              </a:rPr>
              <a:t>Interactive, user-friendly GUI or dashboard for non-technical users</a:t>
            </a:r>
          </a:p>
          <a:p>
            <a:pPr marL="0" indent="0">
              <a:buNone/>
            </a:pPr>
            <a:endParaRPr lang="en-US" altLang="en-US" dirty="0">
              <a:latin typeface="+mn-lt"/>
            </a:endParaRPr>
          </a:p>
          <a:p>
            <a:r>
              <a:rPr lang="en-US" altLang="en-US" dirty="0">
                <a:latin typeface="+mn-lt"/>
              </a:rPr>
              <a:t>Delivered an end-to-end solution - from data cleaning and analysis to modeling and deployment</a:t>
            </a:r>
            <a:endParaRPr lang="en-IN" dirty="0">
              <a:latin typeface="+mn-lt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935126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18" y="435935"/>
            <a:ext cx="8229600" cy="1143000"/>
          </a:xfrm>
        </p:spPr>
        <p:txBody>
          <a:bodyPr/>
          <a:lstStyle/>
          <a:p>
            <a:r>
              <a:rPr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218" y="1868914"/>
            <a:ext cx="8423564" cy="43192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[1] Ashika &amp; Grace, 2025. Ensemble-based RST-ML approach.</a:t>
            </a:r>
          </a:p>
          <a:p>
            <a:pPr marL="0" indent="0">
              <a:buNone/>
            </a:pPr>
            <a:r>
              <a:rPr dirty="0"/>
              <a:t>[2] Ganie &amp; Pramanik, 2025. Explainable AI for heart disease.</a:t>
            </a:r>
          </a:p>
          <a:p>
            <a:pPr marL="0" indent="0">
              <a:buNone/>
            </a:pPr>
            <a:r>
              <a:rPr dirty="0"/>
              <a:t>[3] Kumar &amp; </a:t>
            </a:r>
            <a:r>
              <a:rPr dirty="0" err="1"/>
              <a:t>Dhanka</a:t>
            </a:r>
            <a:r>
              <a:rPr dirty="0"/>
              <a:t>, 2025. Hybrid framework combining deep learning.</a:t>
            </a:r>
          </a:p>
          <a:p>
            <a:pPr marL="0" indent="0">
              <a:buNone/>
            </a:pPr>
            <a:r>
              <a:rPr dirty="0"/>
              <a:t>[4] Mao &amp; Jimma, 2025. ML algorithms for diagnosis.</a:t>
            </a:r>
          </a:p>
          <a:p>
            <a:pPr marL="0" indent="0">
              <a:buNone/>
            </a:pPr>
            <a:r>
              <a:rPr dirty="0"/>
              <a:t>[5] Rehman &amp; Naseem, 2025. Advanced ML for CHD.</a:t>
            </a:r>
          </a:p>
          <a:p>
            <a:pPr marL="0" indent="0">
              <a:buNone/>
            </a:pPr>
            <a:r>
              <a:rPr dirty="0"/>
              <a:t>[6] Tseng &amp; Sun, 2025. Comparative ML study.</a:t>
            </a:r>
          </a:p>
          <a:p>
            <a:pPr marL="0" indent="0">
              <a:buNone/>
            </a:pPr>
            <a:r>
              <a:rPr dirty="0"/>
              <a:t>[7] Ahmad &amp; Polat, 2023. Cleveland dataset study.</a:t>
            </a:r>
          </a:p>
          <a:p>
            <a:pPr marL="0" indent="0">
              <a:buNone/>
            </a:pPr>
            <a:r>
              <a:rPr dirty="0"/>
              <a:t>[8] Bhuiyan et al., 2024. CBR for heart disease.</a:t>
            </a:r>
          </a:p>
          <a:p>
            <a:pPr marL="0" indent="0">
              <a:buNone/>
            </a:pPr>
            <a:r>
              <a:rPr dirty="0"/>
              <a:t>[9] Islam et al., 2024. ML-based cardiovascular identification.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2522</TotalTime>
  <Words>1385</Words>
  <Application>Microsoft Office PowerPoint</Application>
  <PresentationFormat>On-screen Show (4:3)</PresentationFormat>
  <Paragraphs>150</Paragraphs>
  <Slides>25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5" baseType="lpstr">
      <vt:lpstr>Algerian</vt:lpstr>
      <vt:lpstr>Arial</vt:lpstr>
      <vt:lpstr>Calibri</vt:lpstr>
      <vt:lpstr>Century Gothic</vt:lpstr>
      <vt:lpstr>Courier New</vt:lpstr>
      <vt:lpstr>Google Sans Text</vt:lpstr>
      <vt:lpstr>Times New Roman</vt:lpstr>
      <vt:lpstr>Wingdings</vt:lpstr>
      <vt:lpstr>Wingdings 3</vt:lpstr>
      <vt:lpstr>Ion</vt:lpstr>
      <vt:lpstr>Heart Disease Prediction using Machine Learning</vt:lpstr>
      <vt:lpstr>Introduction</vt:lpstr>
      <vt:lpstr>Background</vt:lpstr>
      <vt:lpstr>Cleaning and Visualization</vt:lpstr>
      <vt:lpstr>Feature Correlation Heatmap</vt:lpstr>
      <vt:lpstr>Average Cholesterol by Age </vt:lpstr>
      <vt:lpstr>Average Max Heart Rate by Age</vt:lpstr>
      <vt:lpstr>Heart Disease by Age</vt:lpstr>
      <vt:lpstr>Heart Disease % by Age</vt:lpstr>
      <vt:lpstr>Gender Distribution </vt:lpstr>
      <vt:lpstr>Chest Pain Type Distribution</vt:lpstr>
      <vt:lpstr>Heart Disease Distribution</vt:lpstr>
      <vt:lpstr>Gender vs Chest Pain </vt:lpstr>
      <vt:lpstr>Heart Disease vs Chest Pain</vt:lpstr>
      <vt:lpstr>Modelling</vt:lpstr>
      <vt:lpstr>Linear Regression</vt:lpstr>
      <vt:lpstr>Model Accuracy</vt:lpstr>
      <vt:lpstr>Logistic Regression</vt:lpstr>
      <vt:lpstr>Model Performance</vt:lpstr>
      <vt:lpstr>Visualizing Model Performance</vt:lpstr>
      <vt:lpstr>GUI for Heart Disease Prediction</vt:lpstr>
      <vt:lpstr>GUI Examples</vt:lpstr>
      <vt:lpstr>Future Work</vt:lpstr>
      <vt:lpstr>Conclusion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Madhurima Mukhopadhyay</cp:lastModifiedBy>
  <cp:revision>33</cp:revision>
  <dcterms:created xsi:type="dcterms:W3CDTF">2013-01-27T09:14:16Z</dcterms:created>
  <dcterms:modified xsi:type="dcterms:W3CDTF">2025-12-08T20:02:18Z</dcterms:modified>
  <cp:category/>
</cp:coreProperties>
</file>